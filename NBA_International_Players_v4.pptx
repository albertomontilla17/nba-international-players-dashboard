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109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1D6FA4">
              <a:alpha val="12000"/>
            </a:srgbClr>
          </a:solidFill>
          <a:ln w="12700">
            <a:solidFill>
              <a:srgbClr val="1D6FA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09728" cy="219456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949E"/>
                </a:solidFill>
              </a:rPr>
              <a:t>MIAMI DADE COLLEGE  ·  DATA ANALYTICS FINAL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International Players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9982A"/>
                </a:solidFill>
              </a:rPr>
              <a:t>in the NBA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</a:rPr>
              <a:t>A data-driven exploration of the global growth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</a:rPr>
              <a:t>of basketball at the professional level.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4206240"/>
            <a:ext cx="34747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4206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Alberto Montilla  ·  Rick Parra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8463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We're Covering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</a:rPr>
              <a:t>6 key insights from our NBA international player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" cy="8686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Global Reach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Which countries send the most players to the NBA?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1148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02920" cy="8686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Draft Trends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How has international drafting changed over time?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1148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02920" cy="8686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League Growth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International players per season — a rising tide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371600"/>
            <a:ext cx="41148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1371600"/>
            <a:ext cx="502920" cy="8686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3716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Top Performers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Best stats by PPG, RPG, APG — who leads?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468880"/>
            <a:ext cx="41148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2468880"/>
            <a:ext cx="502920" cy="8686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4688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Career Longevity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Which international players lasted the longest?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41148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566160"/>
            <a:ext cx="502920" cy="8686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35661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What the data tells us about the global game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Global Reach of International Players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Players classified by birthplace — 419 unique players across 40+ countries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560320" cy="1554480"/>
          </a:xfrm>
          <a:prstGeom prst="rect">
            <a:avLst/>
          </a:prstGeom>
          <a:solidFill>
            <a:srgbClr val="161B22"/>
          </a:solidFill>
          <a:ln w="254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🇨🇦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9982A"/>
                </a:solidFill>
              </a:rPr>
              <a:t>45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#1  Canada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unique players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5603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🇫🇷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1600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D6FA4"/>
                </a:solidFill>
              </a:rPr>
              <a:t>37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29184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#2  France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4505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unique players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5603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🇦🇺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1600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D6FA4"/>
                </a:solidFill>
              </a:rPr>
              <a:t>22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12648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#3  Australia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4505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unique players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</a:rPr>
              <a:t>Dataset covers 1996–97 through 2022–23  ·  Includes both retired and active players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19202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</a:rPr>
              <a:t>419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720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Unique Int'l Players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3246120"/>
            <a:ext cx="19202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032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</a:rPr>
              <a:t>40+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56032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Countries Represented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246120"/>
            <a:ext cx="19202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</a:rPr>
              <a:t>2,123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466344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Total Season Records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3246120"/>
            <a:ext cx="19202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6656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</a:rPr>
              <a:t>2022–23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76656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Dataset End Season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International Players Drafted per Year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The NBA dramatically increased international drafting from 2010 onward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3152" cy="86868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982A"/>
                </a:solidFill>
              </a:rPr>
              <a:t>2016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Peak Draft Year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463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23 international players selected — the most ever in a single draft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73152" cy="86868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982A"/>
                </a:solidFill>
              </a:rPr>
              <a:t>2010–20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Golden Decade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5603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Era of the highest sustained international drafting in NBA history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73152" cy="86868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982A"/>
                </a:solidFill>
              </a:rPr>
              <a:t>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Canadian Record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6576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Canadians drafted in 2019 — a single-year record for any one country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713732"/>
            <a:ext cx="822960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International Players in the League per Season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Consistent upward trend across 25+ years of NBA 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1D6FA4"/>
                </a:solidFill>
              </a:rPr>
              <a:t>THEN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1D6FA4"/>
                </a:solidFill>
              </a:rPr>
              <a:t>9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players in 1996–97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Season debut of tracking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840480" cy="2286000"/>
          </a:xfrm>
          <a:prstGeom prst="rect">
            <a:avLst/>
          </a:prstGeom>
          <a:solidFill>
            <a:srgbClr val="161B22"/>
          </a:solidFill>
          <a:ln w="254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207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C9982A"/>
                </a:solidFill>
              </a:rPr>
              <a:t>NOW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C9982A"/>
                </a:solidFill>
              </a:rPr>
              <a:t>133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484632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players in 2021–22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788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Most international players ever recorded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1920240"/>
            <a:ext cx="100584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9476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14.8×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growth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6301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As of the 2022–23 season (end of dataset), Canada is the 2nd most represented country in the NBA with 24 active players — behind only the United States.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</a:rPr>
              <a:t>Dataset ends at 2022–23 season  ·  Includes both retired and active players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Top 10 International Players by PPG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Filtered: Player Origin = International  ·  Stat selector = PPG  ·  Dataset ends 2022–23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</a:rPr>
              <a:t>Note: Players who represent the USA national team (e.g. Kyrie Irving, Joel Embiid) are excluded even if born abroad.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77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84048" cy="621792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Luka Dončić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7922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Slovenia  ·  Active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600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982A"/>
                </a:solidFill>
              </a:rPr>
              <a:t>28.4 PPG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67128"/>
            <a:ext cx="3977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384048" cy="621792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16712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212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Giannis Antetokounmpo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24963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Greece  ·  Active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23042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982A"/>
                </a:solidFill>
              </a:rPr>
              <a:t>23.5 PPG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871216"/>
            <a:ext cx="3977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871216"/>
            <a:ext cx="384048" cy="621792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87121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2916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Shai Gilgeous-Alexander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3200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Canada  ·  Active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30083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982A"/>
                </a:solidFill>
              </a:rPr>
              <a:t>22.5 PPG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575304"/>
            <a:ext cx="3977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575304"/>
            <a:ext cx="384048" cy="6217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57530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3621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Nikola Jokić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39044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Serbia  ·  Active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37124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6FA4"/>
                </a:solidFill>
              </a:rPr>
              <a:t>21.0 PPG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279392"/>
            <a:ext cx="3977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4279392"/>
            <a:ext cx="384048" cy="6217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27939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4325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Dirk Nowitzki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2688" y="4608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Germany  ·  Retired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0" y="44165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6FA4"/>
                </a:solidFill>
              </a:rPr>
              <a:t>20.7 PPG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17720" y="1463040"/>
            <a:ext cx="3977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17720" y="1463040"/>
            <a:ext cx="384048" cy="6217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17720" y="146304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93208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Kristaps Porziņģis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93208" y="17922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Latvia  ·  Active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60920" y="1600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6FA4"/>
                </a:solidFill>
              </a:rPr>
              <a:t>18.6 PPG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17720" y="2167128"/>
            <a:ext cx="3977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17720" y="2167128"/>
            <a:ext cx="384048" cy="6217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17720" y="216712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93208" y="2212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Andrew Wiggins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93208" y="24963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Canada  ·  Active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60920" y="23042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6FA4"/>
                </a:solidFill>
              </a:rPr>
              <a:t>17.1 PPG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617720" y="2871216"/>
            <a:ext cx="3977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17720" y="2871216"/>
            <a:ext cx="384048" cy="6217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17720" y="287121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93208" y="2916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Yao Ming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93208" y="3200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China  ·  Retired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60920" y="30083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6FA4"/>
                </a:solidFill>
              </a:rPr>
              <a:t>19.0 PPG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617720" y="3575304"/>
            <a:ext cx="3977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617720" y="3575304"/>
            <a:ext cx="384048" cy="6217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617720" y="357530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093208" y="3621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RJ Barrett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93208" y="39044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Canada  ·  Active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60920" y="37124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6FA4"/>
                </a:solidFill>
              </a:rPr>
              <a:t>18.0 PPG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617720" y="4279392"/>
            <a:ext cx="3977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617720" y="4279392"/>
            <a:ext cx="384048" cy="6217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617720" y="427939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093208" y="4325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Jamal Murray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093208" y="4608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Canada  ·  Active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360920" y="44165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6FA4"/>
                </a:solidFill>
              </a:rPr>
              <a:t>17.5 PPG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Career Longevity — Seasons Played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Top 10 international players ranked by total seasons in the NBA  ·  Dataset ends 2022–23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84048" cy="667512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1978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Dirk Nowitzki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490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Germany  ·  Retired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08960" y="1307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982A"/>
                </a:solidFill>
              </a:rPr>
              <a:t>21 seasons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397764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38404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01952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19568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Tony Parker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22494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France  ·  Retired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0" y="20665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28090"/>
                </a:solidFill>
              </a:rPr>
              <a:t>18 seasons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660904"/>
            <a:ext cx="397764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660904"/>
            <a:ext cx="38404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660904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715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Steve Nash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30083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Canada  ·  Retired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08960" y="2825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28090"/>
                </a:solidFill>
              </a:rPr>
              <a:t>18 seasons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419856"/>
            <a:ext cx="397764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419856"/>
            <a:ext cx="38404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419856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3474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Pau Gasol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2688" y="37673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Spain  ·  Retired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08960" y="3584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28090"/>
                </a:solidFill>
              </a:rPr>
              <a:t>18 seasons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178808"/>
            <a:ext cx="397764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4178808"/>
            <a:ext cx="38404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2688" y="4233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Nene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" y="4526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Brazil  ·  Retired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08960" y="4343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28090"/>
                </a:solidFill>
              </a:rPr>
              <a:t>16 seasons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17720" y="1143000"/>
            <a:ext cx="397764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17720" y="1143000"/>
            <a:ext cx="38404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17720" y="1143000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93208" y="11978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Manu Ginóbili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93208" y="1490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Argentina  ·  Retired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69480" y="1307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28090"/>
                </a:solidFill>
              </a:rPr>
              <a:t>16 seasons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617720" y="1901952"/>
            <a:ext cx="397764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17720" y="1901952"/>
            <a:ext cx="38404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17720" y="1901952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93208" y="19568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Zaza Pachulia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93208" y="22494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Georgia  ·  Retired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69480" y="20665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28090"/>
                </a:solidFill>
              </a:rPr>
              <a:t>16 seasons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617720" y="2660904"/>
            <a:ext cx="397764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17720" y="2660904"/>
            <a:ext cx="38404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617720" y="2660904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93208" y="2715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Al Horford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93208" y="30083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D.R.  ·  Active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69480" y="2825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28090"/>
                </a:solidFill>
              </a:rPr>
              <a:t>16 seasons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617720" y="3419856"/>
            <a:ext cx="397764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617720" y="3419856"/>
            <a:ext cx="38404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617720" y="3419856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093208" y="3474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Hedo Türkoğlu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093208" y="37673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Turkey  ·  Retired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69480" y="3584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28090"/>
                </a:solidFill>
              </a:rPr>
              <a:t>15 seasons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617720" y="4178808"/>
            <a:ext cx="397764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617720" y="4178808"/>
            <a:ext cx="38404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617720" y="4178808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093208" y="4233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Goran Dragić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093208" y="4526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Slovenia  ·  Retired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269480" y="4343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28090"/>
                </a:solidFill>
              </a:rPr>
              <a:t>15 seasons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09728" cy="82296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</a:rPr>
              <a:t>What the data tells us about the global game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84048" cy="66751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1887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NBA is truly global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47218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419 unique international players from 40+ countries — a number that grows every season.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822960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38404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01952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19476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Canada leads the world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23113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With 45 unique players, Canada is the #1 international feeder nation ahead of France (37) and Australia (22).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60904"/>
            <a:ext cx="822960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660904"/>
            <a:ext cx="384048" cy="66751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60904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70662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2010–2020 was the golden era of int'l drafting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99008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The NBA drafted more international talent than ever, peaking at 23 picks in 2016.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822960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419856"/>
            <a:ext cx="38404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419856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4655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International stars now dominate the stat sheet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7490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Luka Dončić (28.4 PPG), Giannis Antetokounmpo, and SGA are among the NBA's top scorers — all international born.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78808"/>
            <a:ext cx="822960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178808"/>
            <a:ext cx="384048" cy="66751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178808"/>
            <a:ext cx="3840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42245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Longevity is a hallmark of int'l players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50799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Dirk Nowitzki played 21 seasons — the longest of any international player in NBA history.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09728" cy="82296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References &amp; Data Dictionary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Data source and field definitions used throughout this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84048" cy="8229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207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FA4"/>
                </a:solidFill>
              </a:rPr>
              <a:t>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463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NBA Players Data — Kaggle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7007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kaggle.com/datasets/justinas/nba-players-data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82A"/>
                </a:solidFill>
              </a:rPr>
              <a:t>DATA DICTIONARY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25511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82A"/>
                </a:solidFill>
              </a:rPr>
              <a:t>PPG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2807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Points Per Game — average points scored per game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32369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82A"/>
                </a:solidFill>
              </a:rPr>
              <a:t>RPG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493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Rebounds Per Game — average rebounds per game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39227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82A"/>
                </a:solidFill>
              </a:rPr>
              <a:t>APG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4178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Assists Per Game — average assists per game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" y="46085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51460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514600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56048" y="25511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82A"/>
                </a:solidFill>
              </a:rPr>
              <a:t>Net Rating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56048" y="2807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Measures how much a team or player outscores opponents per 100 possessions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20040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200400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56048" y="32369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82A"/>
                </a:solidFill>
              </a:rPr>
              <a:t>TS%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56048" y="3493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True Shooting % — efficiency metric including 2PT, 3PT, and free throws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88620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3886200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56048" y="39227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82A"/>
                </a:solidFill>
              </a:rPr>
              <a:t>USG%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56048" y="4178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Usage % — estimates how many of a team's offensive possessions a player uses on the floor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D6FA4">
              <a:alpha val="10000"/>
            </a:srgbClr>
          </a:solidFill>
          <a:ln w="12700">
            <a:solidFill>
              <a:srgbClr val="1D6FA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C9982A">
              <a:alpha val="10000"/>
            </a:srgbClr>
          </a:solidFill>
          <a:ln w="12700">
            <a:solidFill>
              <a:srgbClr val="C9982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2743200" y="2331720"/>
            <a:ext cx="3657600" cy="54864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49E"/>
                </a:solidFill>
              </a:rPr>
              <a:t>Alberto Montilla  &amp;  Rick Parra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Miami Dade College · Data Analytics Final Project · April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82A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Data Source: kaggle.com/datasets/justinas/nba-players-data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845</Words>
  <Application>Microsoft Office PowerPoint</Application>
  <PresentationFormat>On-screen Show (16:9)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Players in the NBA</dc:title>
  <dc:subject>PptxGenJS Presentation</dc:subject>
  <dc:creator>PptxGenJS</dc:creator>
  <cp:lastModifiedBy>Rick Parra</cp:lastModifiedBy>
  <cp:revision>2</cp:revision>
  <dcterms:created xsi:type="dcterms:W3CDTF">2026-04-28T14:04:10Z</dcterms:created>
  <dcterms:modified xsi:type="dcterms:W3CDTF">2026-04-28T14:11:08Z</dcterms:modified>
</cp:coreProperties>
</file>